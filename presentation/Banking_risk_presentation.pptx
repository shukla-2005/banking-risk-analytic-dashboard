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Condensed Medium"/>
      <p:regular r:id="rId201314"/>
    </p:embeddedFont>
    <p:embeddedFont>
      <p:font typeface="Barlow Condensed SemiBold"/>
      <p:regular r:id="rId201315"/>
    </p:embeddedFont>
    <p:embeddedFont>
      <p:font typeface="Barlow Condensed Bold"/>
      <p:regular r:id="rId201316"/>
    </p:embeddedFont>
    <p:embeddedFont>
      <p:font typeface="Barlow Condensed ExtraBold"/>
      <p:regular r:id="rId201317"/>
    </p:embeddedFont>
    <p:embeddedFont>
      <p:font typeface="Barlow Condensed Black"/>
      <p:regular r:id="rId201318"/>
    </p:embeddedFont>
    <p:embeddedFont>
      <p:font typeface="Lexend Medium"/>
      <p:regular r:id="rId201319"/>
    </p:embeddedFont>
    <p:embeddedFont>
      <p:font typeface="Lexend SemiBold"/>
      <p:regular r:id="rId201320"/>
    </p:embeddedFont>
    <p:embeddedFont>
      <p:font typeface="Lexend Bold"/>
      <p:regular r:id="rId201321"/>
    </p:embeddedFont>
    <p:embeddedFont>
      <p:font typeface="Lexend ExtraBold"/>
      <p:regular r:id="rId201322"/>
    </p:embeddedFont>
    <p:embeddedFont>
      <p:font typeface="Lexend Black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C0A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611"/>
            </a:avLst>
          </a:prstGeom>
          <a:solidFill>
            <a:srgbClr val="DFC0A9"/>
          </a:solidFill>
          <a:ln/>
        </p:spPr>
      </p:sp>
      <p:pic>
        <p:nvPicPr>
          <p:cNvPr id="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611"/>
            </a:avLst>
          </a:prstGeom>
          <a:solidFill>
            <a:srgbClr val="DFC0A9"/>
          </a:solidFill>
          <a:ln/>
        </p:spPr>
      </p:sp>
      <p:pic>
        <p:nvPicPr>
          <p:cNvPr id="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2105720"/>
            <a:ext cx="109725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54" kern="0" dirty="0">
                <a:solidFill>
                  <a:srgbClr val="483104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ANALYTICS PORTFOLIO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377" y="2541290"/>
            <a:ext cx="10362941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800" spc="29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BANKING RISK ANALYTICS,</a:t>
            </a:r>
            <a:endParaRPr lang="en-US" sz="5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800" spc="29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BUILT END TO END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914377" y="432564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From raw banking records to a reviewable lending story.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1466354"/>
            <a:ext cx="109725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54" kern="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THE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377" y="1901924"/>
            <a:ext cx="10362941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26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THE PROJECT TURNS A RAW BANKING DATASET INTO A REVIEWABLE LENDING STORY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377" y="4111724"/>
            <a:ext cx="1036294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Data quality checks, feature engineering, SQL analysis, and Power BI decision support help an analyst compare exposure, risk mix, and customer financial strength.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0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The portfolio is large enough to demand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908175"/>
            <a:ext cx="2628834" cy="4340225"/>
          </a:xfrm>
          <a:prstGeom prst="roundRect">
            <a:avLst>
              <a:gd name="adj" fmla="val 435"/>
            </a:avLst>
          </a:prstGeom>
          <a:solidFill>
            <a:srgbClr val="FFF9E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409652"/>
            <a:ext cx="217164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spc="25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3,000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38179" y="4355802"/>
            <a:ext cx="278123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90815" y="1908175"/>
            <a:ext cx="2628834" cy="4340225"/>
          </a:xfrm>
          <a:prstGeom prst="roundRect">
            <a:avLst>
              <a:gd name="adj" fmla="val 435"/>
            </a:avLst>
          </a:prstGeom>
          <a:solidFill>
            <a:srgbClr val="F4B740"/>
          </a:solidFill>
          <a:ln/>
        </p:spPr>
      </p:sp>
      <p:sp>
        <p:nvSpPr>
          <p:cNvPr id="7" name="Text 5"/>
          <p:cNvSpPr/>
          <p:nvPr/>
        </p:nvSpPr>
        <p:spPr>
          <a:xfrm>
            <a:off x="3619409" y="3214092"/>
            <a:ext cx="217164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spc="25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3,000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619409" y="4160242"/>
            <a:ext cx="21716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unique Client IDs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72046" y="1908175"/>
            <a:ext cx="2628834" cy="4340225"/>
          </a:xfrm>
          <a:prstGeom prst="roundRect">
            <a:avLst>
              <a:gd name="adj" fmla="val 435"/>
            </a:avLst>
          </a:prstGeom>
          <a:solidFill>
            <a:srgbClr val="DFC0A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640" y="3239492"/>
            <a:ext cx="217164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23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₹1.77 B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00640" y="4134842"/>
            <a:ext cx="21716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total bank loans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953276" y="1908175"/>
            <a:ext cx="2628834" cy="4340225"/>
          </a:xfrm>
          <a:prstGeom prst="roundRect">
            <a:avLst>
              <a:gd name="adj" fmla="val 435"/>
            </a:avLst>
          </a:prstGeom>
          <a:solidFill>
            <a:srgbClr val="FFF9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81870" y="3214092"/>
            <a:ext cx="217164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spc="25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88.06%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9181870" y="4160242"/>
            <a:ext cx="21716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loan-to-deposit ratio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0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Four layers move the project from raw records to decisions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908175"/>
            <a:ext cx="1442704" cy="4340225"/>
          </a:xfrm>
          <a:prstGeom prst="roundRect">
            <a:avLst>
              <a:gd name="adj" fmla="val 792"/>
            </a:avLst>
          </a:prstGeom>
          <a:solidFill>
            <a:srgbClr val="F4B74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798887"/>
            <a:ext cx="98551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22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4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4585" y="2136775"/>
          <a:ext cx="9143771" cy="914400"/>
        </p:xfrm>
        <a:graphic>
          <a:graphicData uri="http://schemas.openxmlformats.org/drawingml/2006/table">
            <a:tbl>
              <a:tblPr/>
              <a:tblGrid>
                <a:gridCol w="2063055"/>
                <a:gridCol w="7314469"/>
              </a:tblGrid>
              <a:tr h="657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Layer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Role in the workflow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657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Python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Inspect, clean, transform, and explore the data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657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MySQL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Create a repeatable analytical layer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657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Power BI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Expose portfolio and customer views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1036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Analyst review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Compare risk, exposure, and coverage before lending decisions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0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Trust starts with data quality, not dashboard polish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908175"/>
            <a:ext cx="10972526" cy="979388"/>
          </a:xfrm>
          <a:prstGeom prst="roundRect">
            <a:avLst>
              <a:gd name="adj" fmla="val 1167"/>
            </a:avLst>
          </a:prstGeom>
          <a:noFill/>
          <a:ln w="38099">
            <a:solidFill>
              <a:srgbClr val="071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278" y="2174875"/>
            <a:ext cx="1104872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Validation.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Zero missing values and zero exact duplicate rows.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585" y="3039963"/>
            <a:ext cx="10972526" cy="1761629"/>
          </a:xfrm>
          <a:prstGeom prst="roundRect">
            <a:avLst>
              <a:gd name="adj" fmla="val 649"/>
            </a:avLst>
          </a:prstGeom>
          <a:noFill/>
          <a:ln w="38099">
            <a:solidFill>
              <a:srgbClr val="07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278" y="3306663"/>
            <a:ext cx="1043913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Key design choice.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Client ID is unique across all 3,000 records, so it serves as the customer-level business key for Power BI drill-through and SQL lookups.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585" y="4953992"/>
            <a:ext cx="10972526" cy="1294408"/>
          </a:xfrm>
          <a:prstGeom prst="roundRect">
            <a:avLst>
              <a:gd name="adj" fmla="val 883"/>
            </a:avLst>
          </a:prstGeom>
          <a:solidFill>
            <a:srgbClr val="F4B740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5182592"/>
            <a:ext cx="1051533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Semantic caution.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Deposit and account fields may overlap, so combined balances remain project-defined metrics.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32" kern="0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Risk Weighting 2 is the center of gravity, while 16.07% enters the monitoring segment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98439"/>
            <a:ext cx="6756231" cy="3824883"/>
          </a:xfrm>
          <a:prstGeom prst="roundRect">
            <a:avLst>
              <a:gd name="adj" fmla="val 299"/>
            </a:avLst>
          </a:prstGeom>
          <a:solidFill>
            <a:srgbClr val="DFC0A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123380"/>
            <a:ext cx="6299042" cy="317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70509" y="2027039"/>
            <a:ext cx="3911601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b="1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Risk 2</a:t>
            </a:r>
            <a:endParaRPr lang="en-US" sz="2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1,222 records · 40.7%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70509" y="3061295"/>
            <a:ext cx="3911601" cy="1535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Risk 1: 836 · 27.9%</a:t>
            </a:r>
            <a:endParaRPr lang="en-US" sz="2200" dirty="0"/>
          </a:p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Risk 3: 460 · 15.3%</a:t>
            </a:r>
            <a:endParaRPr lang="en-US" sz="2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Risk 4–5: 482 records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70509" y="4777581"/>
            <a:ext cx="391160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294457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Monitoring segment: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94457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16.07% of the dataset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34920" y="0"/>
                </a:moveTo>
                <a:lnTo>
                  <a:pt x="6095848" y="0"/>
                </a:lnTo>
                <a:lnTo>
                  <a:pt x="6095848" y="6858000"/>
                </a:lnTo>
                <a:lnTo>
                  <a:pt x="34920" y="6858000"/>
                </a:lnTo>
                <a:arcTo hR="34921" wR="34920" stAng="5400000" swAng="5400000"/>
                <a:lnTo>
                  <a:pt x="0" y="34921"/>
                </a:lnTo>
                <a:arcTo hR="34921" wR="34920" stAng="10800000" swAng="5400000"/>
                <a:close/>
              </a:path>
            </a:pathLst>
          </a:custGeom>
          <a:solidFill>
            <a:srgbClr val="FFF9EB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177800"/>
            <a:ext cx="584185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54" kern="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PORTFOLIO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1789" y="613370"/>
            <a:ext cx="5232269" cy="2605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Exposure is manageable at portfolio level, but business lending dominates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31789" y="3530501"/>
            <a:ext cx="5232269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Deposits exceed loans at portfolio level, while the business-lending book remains the largest exposure.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48" y="0"/>
            <a:ext cx="2971726" cy="2184400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7" name="Text 5"/>
          <p:cNvSpPr/>
          <p:nvPr/>
        </p:nvSpPr>
        <p:spPr>
          <a:xfrm>
            <a:off x="6451439" y="253405"/>
            <a:ext cx="2260543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23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₹2.60 B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51439" y="1148755"/>
            <a:ext cx="226054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total business lending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219969" y="0"/>
            <a:ext cx="2971726" cy="2184400"/>
          </a:xfrm>
          <a:custGeom>
            <a:avLst/>
            <a:gdLst/>
            <a:ahLst/>
            <a:cxnLst/>
            <a:rect l="l" t="t" r="r" b="b"/>
            <a:pathLst>
              <a:path w="2971726" h="2184400">
                <a:moveTo>
                  <a:pt x="0" y="0"/>
                </a:moveTo>
                <a:lnTo>
                  <a:pt x="2936805" y="0"/>
                </a:lnTo>
                <a:arcTo hR="34921" wR="34920" stAng="16200000" swAng="5400000"/>
                <a:lnTo>
                  <a:pt x="2971726" y="2184400"/>
                </a:lnTo>
                <a:lnTo>
                  <a:pt x="0" y="2184400"/>
                </a:lnTo>
                <a:lnTo>
                  <a:pt x="0" y="0"/>
                </a:lnTo>
                <a:close/>
              </a:path>
            </a:pathLst>
          </a:custGeom>
          <a:solidFill>
            <a:srgbClr val="DFC0A9"/>
          </a:solidFill>
          <a:ln/>
        </p:spPr>
      </p:sp>
      <p:sp>
        <p:nvSpPr>
          <p:cNvPr id="10" name="Text 8"/>
          <p:cNvSpPr/>
          <p:nvPr/>
        </p:nvSpPr>
        <p:spPr>
          <a:xfrm>
            <a:off x="9575560" y="278805"/>
            <a:ext cx="226054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21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₹2.01 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575560" y="1123355"/>
            <a:ext cx="226054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total bank deposits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95848" y="2336701"/>
            <a:ext cx="2971726" cy="2184598"/>
          </a:xfrm>
          <a:prstGeom prst="rect">
            <a:avLst/>
          </a:prstGeom>
          <a:solidFill>
            <a:srgbClr val="FFF9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439" y="2811165"/>
            <a:ext cx="226054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21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₹1.77 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451439" y="3655715"/>
            <a:ext cx="2870128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total bank loans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219969" y="2336701"/>
            <a:ext cx="2971726" cy="2184598"/>
          </a:xfrm>
          <a:prstGeom prst="rect">
            <a:avLst/>
          </a:prstGeom>
          <a:noFill/>
          <a:ln w="38099">
            <a:solidFill>
              <a:srgbClr val="071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13659" y="2615605"/>
            <a:ext cx="218434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21" kern="0" dirty="0">
                <a:solidFill>
                  <a:srgbClr val="071B2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₹429.31 M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613659" y="3460155"/>
            <a:ext cx="2184345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Risk 4–5 loan exposure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1439" y="5029200"/>
            <a:ext cx="5384665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b="1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88.06%</a:t>
            </a:r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 loan-to-deposit ratio means deposits exceed loans at portfolio level.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0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Branch 2 deserves attention; Branch 4 carries the highest leverage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853406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294457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One row per unique customer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07047"/>
          <a:ext cx="9143771" cy="914400"/>
        </p:xfrm>
        <a:graphic>
          <a:graphicData uri="http://schemas.openxmlformats.org/drawingml/2006/table">
            <a:tbl>
              <a:tblPr/>
              <a:tblGrid>
                <a:gridCol w="1755604"/>
                <a:gridCol w="1536154"/>
                <a:gridCol w="2084780"/>
                <a:gridCol w="2084780"/>
                <a:gridCol w="1536154"/>
                <a:gridCol w="1975055"/>
              </a:tblGrid>
              <a:tr h="6070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Branch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Customers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Deposits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Loans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L/D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Risk 4–5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6070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Branch 1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660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₹425.49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₹380.88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89.52%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16.1%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6070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Branch 2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495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₹328.97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₹278.60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84.69%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18.0%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740"/>
                    </a:solidFill>
                  </a:tcPr>
                </a:tc>
              </a:tr>
              <a:tr h="6070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Branch 3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1,352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₹925.40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₹814.22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87.99%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15.1%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  <a:tr h="5943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Branch 4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493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₹334.82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₹300.47 M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89.74%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71B2C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16.8%</a:t>
                      </a:r>
                      <a:endParaRPr lang="en-US" sz="22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5708848"/>
            <a:ext cx="109725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294457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Branch 3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94457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is largest by customer count. </a:t>
            </a:r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294457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Branch 2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94457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has the highest Risk 4–5 share. </a:t>
            </a:r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294457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Branch 4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294457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 has the highest loan-to-deposit ratio.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73370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0" dirty="0">
                <a:solidFill>
                  <a:srgbClr val="071B2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Customer 360 turns portfolio metrics into a review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5425678"/>
            <a:ext cx="3733707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294457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These rules support analyst review; they do not automate credit approval.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67253" y="935335"/>
            <a:ext cx="20954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71B2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Profile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67253" y="1487785"/>
            <a:ext cx="20954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Selected customer, age, income, loyalty, and branch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86663" y="650875"/>
            <a:ext cx="20954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71B2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Exposure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86663" y="1203325"/>
            <a:ext cx="2095448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Bank loans, business lending, credit-card balance, and customer credit exposure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67253" y="4516735"/>
            <a:ext cx="20954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71B2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Coverage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67253" y="5069185"/>
            <a:ext cx="20954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Customer loan-to-deposit ratio and deposit strength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86663" y="4374555"/>
            <a:ext cx="20954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71B2C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86663" y="4927005"/>
            <a:ext cx="209544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71B2C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Priority Review, Monitor, Opportunity, or Standard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1379339"/>
            <a:ext cx="109725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54" kern="0" dirty="0">
                <a:solidFill>
                  <a:srgbClr val="483104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BOUNDARY CONDITIONS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377" y="1814909"/>
            <a:ext cx="10362941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26" kern="0" dirty="0">
                <a:solidFill>
                  <a:srgbClr val="000000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THE MOST CREDIBLE INSIGHT IS THE BOUNDARY OF THE MODEL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377" y="3364309"/>
            <a:ext cx="10362941" cy="2114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This is descriptive risk analytics, not predictive credit-risk modeling, because the dataset has no default, delinquency, or loss outcome.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Risk Weighting definitions are not documented in the source dataset.</a:t>
            </a:r>
            <a:endParaRPr lang="en-US" sz="2200" dirty="0"/>
          </a:p>
          <a:p>
            <a:pPr algn="l" marL="447040" indent="-447040">
              <a:lnSpc>
                <a:spcPct val="1170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Dashboard thresholds are analytical rules created for the project, not formal policy.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2026-09-05T03:09:59Z</dcterms:created>
  <dcterms:modified xsi:type="dcterms:W3CDTF">2026-09-05T03:09:59Z</dcterms:modified>
</cp:coreProperties>
</file>